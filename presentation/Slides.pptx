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195" y="1878508"/>
            <a:ext cx="3059608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4715" y="4379416"/>
            <a:ext cx="9122568" cy="600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41530" y="2335708"/>
            <a:ext cx="6508938" cy="1051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b="1" sz="3450" i="0" u="none">
                <a:solidFill>
                  <a:srgbClr val="0F172A"/>
                </a:solidFill>
                <a:latin typeface="Plus Jakarta Sans"/>
              </a:rPr>
              <a:t>Drug Safety Signal Detector &amp;</a:t>
            </a:r>
            <a:r>
              <a:t>
</a:t>
            </a:r>
            <a:r>
              <a:rPr b="1" sz="3450" i="0" u="none">
                <a:solidFill>
                  <a:srgbClr val="0F172A"/>
                </a:solidFill>
                <a:latin typeface="Plus Jakarta Sans"/>
              </a:rPr>
              <a:t> Regulatory Readiness Checker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05000" y="3539430"/>
            <a:ext cx="8382000" cy="4970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Catching critical adverse drug safety signals early, and identifying CTD dossier omissions before the FDA does.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070" y="1954708"/>
            <a:ext cx="110579" cy="114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57625" y="4617541"/>
            <a:ext cx="16192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12" i="0" u="none">
                <a:solidFill>
                  <a:srgbClr val="64748B"/>
                </a:solidFill>
                <a:latin typeface="Plus Jakarta Sans"/>
              </a:rPr>
              <a:t>Problem Track </a:t>
            </a:r>
            <a:r>
              <a:rPr b="0" sz="1012" i="0" u="none">
                <a:solidFill>
                  <a:srgbClr val="0F172A"/>
                </a:solidFill>
                <a:latin typeface="Plus Jakarta Sans SemiBold"/>
              </a:rPr>
              <a:t>P2 — Pharma &amp; Biotech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9775" y="4617541"/>
            <a:ext cx="8477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12" i="0" u="none">
                <a:solidFill>
                  <a:srgbClr val="64748B"/>
                </a:solidFill>
                <a:latin typeface="Plus Jakarta Sans"/>
              </a:rPr>
              <a:t>Project Team </a:t>
            </a:r>
            <a:r>
              <a:rPr b="0" sz="1012" i="0" u="none">
                <a:solidFill>
                  <a:srgbClr val="0F172A"/>
                </a:solidFill>
                <a:latin typeface="Plus Jakarta Sans SemiBold"/>
              </a:rPr>
              <a:t>Bob-builder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0400" y="4617541"/>
            <a:ext cx="13239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12" i="0" u="none">
                <a:solidFill>
                  <a:srgbClr val="64748B"/>
                </a:solidFill>
                <a:latin typeface="Plus Jakarta Sans"/>
              </a:rPr>
              <a:t>Institution </a:t>
            </a:r>
            <a:r>
              <a:rPr b="0" sz="1012" i="0" u="none">
                <a:solidFill>
                  <a:srgbClr val="0F172A"/>
                </a:solidFill>
                <a:latin typeface="Plus Jakarta Sans SemiBold"/>
              </a:rPr>
              <a:t>CHARUSAT (CDPC)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063799"/>
            <a:ext cx="5429250" cy="332452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2063799"/>
            <a:ext cx="5429250" cy="33245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8675" y="2540049"/>
            <a:ext cx="508063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Post-Market Surveillance Blindspots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8675" y="2835324"/>
            <a:ext cx="483870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334155"/>
                </a:solidFill>
                <a:latin typeface="Plus Jakarta Sans"/>
              </a:rPr>
              <a:t>Post-market safety surveillance relies on spontaneous reporting databases where sheer data volume far outpaces human review bandwidth.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625" y="2540049"/>
            <a:ext cx="508063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Pre-Market Filing Rejections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625" y="2835324"/>
            <a:ext cx="483870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334155"/>
                </a:solidFill>
                <a:latin typeface="Plus Jakarta Sans"/>
              </a:rPr>
              <a:t>Global drug submissions follow the rigid ICH M4 Common Technical Document (CTD) standard spanning 5 interlinked modules.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675" y="2330499"/>
            <a:ext cx="129331" cy="123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34206" y="2320974"/>
            <a:ext cx="194816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62" i="0" u="none">
                <a:solidFill>
                  <a:srgbClr val="0284C7"/>
                </a:solidFill>
                <a:latin typeface="JetBrains Mono"/>
              </a:rPr>
              <a:t>CRISIS 1: PHARMACOVIGILANCE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175" y="3685430"/>
            <a:ext cx="4648200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0F172A"/>
                </a:solidFill>
                <a:latin typeface="Plus Jakarta Sans SemiBold"/>
              </a:rPr>
              <a:t>20M+ FAERS Reports: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Hundreds of thousands of quarterly patient reports flood the FDA, burying rare but acute adverse signals.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75" y="4167336"/>
            <a:ext cx="4648200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0F172A"/>
                </a:solidFill>
                <a:latin typeface="Plus Jakarta Sans SemiBold"/>
              </a:rPr>
              <a:t>Delayed Signal Recognition: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Over 27,000 heart attacks occurred before the Vioxx cardiovascular risk was formally acted upon.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175" y="4649241"/>
            <a:ext cx="4648200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0F172A"/>
                </a:solidFill>
                <a:latin typeface="Plus Jakarta Sans SemiBold"/>
              </a:rPr>
              <a:t>The Root Problem: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Rigorous statistical disproportionality exists, but manual review cannot evaluate every drug-event pair.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2330499"/>
            <a:ext cx="148381" cy="1238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49206" y="2320974"/>
            <a:ext cx="2092523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62" i="0" u="none">
                <a:solidFill>
                  <a:srgbClr val="0284C7"/>
                </a:solidFill>
                <a:latin typeface="JetBrains Mono"/>
              </a:rPr>
              <a:t>CRISIS 2: REGULATORY DOSSIERS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5125" y="3478262"/>
            <a:ext cx="4648200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0F172A"/>
                </a:solidFill>
                <a:latin typeface="Plus Jakarta Sans SemiBold"/>
              </a:rPr>
              <a:t>100,000+ Dossier Pages: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Even a single missing mandatory nonclinical or clinical summary triggers an immediate Refuse-to-File (RTF).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5125" y="3960167"/>
            <a:ext cx="4648200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0F172A"/>
                </a:solidFill>
                <a:latin typeface="Plus Jakarta Sans SemiBold"/>
              </a:rPr>
              <a:t>$50M–$100M Filing Loss: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Each rejection delays patient access by 6 to 12 months, permanently destroying patent exclusivity.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5125" y="4442073"/>
            <a:ext cx="4648200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0F172A"/>
                </a:solidFill>
                <a:latin typeface="Plus Jakarta Sans SemiBold"/>
              </a:rPr>
              <a:t>The Root Problem: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Human cross-checking across 55+ required technical sections is slow, siloed, and prone to oversight.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3666380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0284C7"/>
                </a:solidFill>
                <a:latin typeface="Plus Jakarta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4148286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0284C7"/>
                </a:solidFill>
                <a:latin typeface="Plus Jakarta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4630191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0284C7"/>
                </a:solidFill>
                <a:latin typeface="Plus Jakarta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3675" y="3459212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0284C7"/>
                </a:solidFill>
                <a:latin typeface="Plus Jakarta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3675" y="3941117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0284C7"/>
                </a:solidFill>
                <a:latin typeface="Plus Jakarta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3675" y="4423023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0284C7"/>
                </a:solidFill>
                <a:latin typeface="Plus Jakarta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419100"/>
            <a:ext cx="1165860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The Two Regulatory Volume Crises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159496"/>
            <a:ext cx="5429250" cy="313312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2159496"/>
            <a:ext cx="5429250" cy="31331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8675" y="2635746"/>
            <a:ext cx="508063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Signal Detection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8675" y="2931021"/>
            <a:ext cx="483870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334155"/>
                </a:solidFill>
                <a:latin typeface="Plus Jakarta Sans"/>
              </a:rPr>
              <a:t>A mathematically rigorous implementation of the Evans et al. (2001) standard built for automated disproportionality screening.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625" y="2635746"/>
            <a:ext cx="508063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Submission Readiness Checker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625" y="2931021"/>
            <a:ext cx="483870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334155"/>
                </a:solidFill>
                <a:latin typeface="Plus Jakarta Sans"/>
              </a:rPr>
              <a:t>An automated regulatory pre-flight audit tool evaluating applicant dossiers against ICH M4 structure prior to agency submission.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675" y="2426196"/>
            <a:ext cx="129331" cy="123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34206" y="2416671"/>
            <a:ext cx="194816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62" i="0" u="none">
                <a:solidFill>
                  <a:srgbClr val="0284C7"/>
                </a:solidFill>
                <a:latin typeface="JetBrains Mono"/>
              </a:rPr>
              <a:t>MODE 1: SAFETY SURVEILLANCE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175" y="3573958"/>
            <a:ext cx="4648200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0F172A"/>
                </a:solidFill>
                <a:latin typeface="Plus Jakarta Sans SemiBold"/>
              </a:rPr>
              <a:t>2x2 Contingency Matrix: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Computes the Proportional Reporting Ratio (PRR) across all drug-adverse event pairs simultaneously.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75" y="4055864"/>
            <a:ext cx="4648200" cy="402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0F172A"/>
                </a:solidFill>
                <a:latin typeface="Plus Jakarta Sans SemiBold"/>
              </a:rPr>
              <a:t>Chi-Squared Testing: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Applies SciPy Pearson's Chi-Squared statistic (χ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2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≥ 4) to filter out sample size variance.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175" y="4553545"/>
            <a:ext cx="4648200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0F172A"/>
                </a:solidFill>
                <a:latin typeface="Plus Jakarta Sans SemiBold"/>
              </a:rPr>
              <a:t>Zero-Denominator Guard: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Safely treats drug-exclusive reactions as infinite PRR while enforcing a case count threshold (N ≥ 3).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2426196"/>
            <a:ext cx="100756" cy="1238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01581" y="2416671"/>
            <a:ext cx="194816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62" i="0" u="none">
                <a:solidFill>
                  <a:srgbClr val="0284C7"/>
                </a:solidFill>
                <a:latin typeface="JetBrains Mono"/>
              </a:rPr>
              <a:t>MODE 2: SUBMISSION AUDITING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5125" y="3573958"/>
            <a:ext cx="4648200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0F172A"/>
                </a:solidFill>
                <a:latin typeface="Plus Jakarta Sans SemiBold"/>
              </a:rPr>
              <a:t>ICH M4 Knowledge Base: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Encodes 55 mandatory sections across all 5 modules with granular risk annotations.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5125" y="4055864"/>
            <a:ext cx="4648200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0F172A"/>
                </a:solidFill>
                <a:latin typeface="Plus Jakarta Sans SemiBold"/>
              </a:rPr>
              <a:t>Fuzzy String Mapping: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Uses RapidFuzz (threshold = 80) to accommodate regional naming differences.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5125" y="4537769"/>
            <a:ext cx="4648200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0F172A"/>
                </a:solidFill>
                <a:latin typeface="Plus Jakarta Sans SemiBold"/>
              </a:rPr>
              <a:t>Telemetry on Unrecognised Sections: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Surfaces unmapped sponsor additions for auditor review rather than dropping them.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3554908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0284C7"/>
                </a:solidFill>
                <a:latin typeface="Plus Jakarta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4036814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0284C7"/>
                </a:solidFill>
                <a:latin typeface="Plus Jakarta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4534495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0284C7"/>
                </a:solidFill>
                <a:latin typeface="Plus Jakarta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3675" y="3554908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0284C7"/>
                </a:solidFill>
                <a:latin typeface="Plus Jakarta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3675" y="4036814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0284C7"/>
                </a:solidFill>
                <a:latin typeface="Plus Jakarta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3675" y="4518719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0284C7"/>
                </a:solidFill>
                <a:latin typeface="Plus Jakarta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419100"/>
            <a:ext cx="1165860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Dual-Engine Regulatory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522041"/>
            <a:ext cx="3568749" cy="24080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1699" y="2522041"/>
            <a:ext cx="3568749" cy="240803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522041"/>
            <a:ext cx="3568749" cy="240803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2760166"/>
            <a:ext cx="381000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2475" y="3274516"/>
            <a:ext cx="3130599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JetBrains Mono SemiBold"/>
              </a:rPr>
              <a:t>STAGE 1: INGESTION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2475" y="3465016"/>
            <a:ext cx="328712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Resilient Data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3760291"/>
            <a:ext cx="3130599" cy="745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0" sz="1012" i="0" u="none">
                <a:solidFill>
                  <a:srgbClr val="475569"/>
                </a:solidFill>
                <a:latin typeface="Plus Jakarta Sans"/>
              </a:rPr>
              <a:t>Accepts user-uploaded FAERS adverse event CSVs and CTD dossier JSON files. Bundles offline synthetic datasets ensuring full execution in air-gapped clinical environments with zero setup.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0774" y="2760166"/>
            <a:ext cx="381000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30774" y="3274516"/>
            <a:ext cx="3130599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JetBrains Mono SemiBold"/>
              </a:rPr>
              <a:t>STAGE 2: ANALYTICS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0774" y="3465016"/>
            <a:ext cx="328712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Statistical &amp; Fuzzy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0774" y="3760291"/>
            <a:ext cx="3130599" cy="931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0" sz="1012" i="0" u="none">
                <a:solidFill>
                  <a:srgbClr val="475569"/>
                </a:solidFill>
                <a:latin typeface="Plus Jakarta Sans"/>
              </a:rPr>
              <a:t>Vectorized Pandas matrices feed SciPy contingency calculators for PRR &amp; Chi-Squared statistics. RapidFuzz token matching scores submitted sections against standardized ICH M4 schemas.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9074" y="2760166"/>
            <a:ext cx="381000" cy="381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09074" y="3274516"/>
            <a:ext cx="3130599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JetBrains Mono SemiBold"/>
              </a:rPr>
              <a:t>STAGE 3: REPORTING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9074" y="3465016"/>
            <a:ext cx="328712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Deterministic Summaries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9074" y="3760291"/>
            <a:ext cx="3130599" cy="745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0" sz="1012" i="0" u="none">
                <a:solidFill>
                  <a:srgbClr val="475569"/>
                </a:solidFill>
                <a:latin typeface="Plus Jakarta Sans"/>
              </a:rPr>
              <a:t>Synthesizes audit findings into plain-English regulatory notes entirely through deterministic rule logic—eliminating external API latency, recurring token fees, and AI hallucination risk.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775" y="2864941"/>
            <a:ext cx="152400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5549" y="2864941"/>
            <a:ext cx="171450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04324" y="2864941"/>
            <a:ext cx="190500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33400" y="419100"/>
            <a:ext cx="1165860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Zero-Cloud System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3400" y="1897558"/>
            <a:ext cx="11125200" cy="2917031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400" y="1897558"/>
          <a:ext cx="11106149" cy="2917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603920"/>
                <a:gridCol w="2138660"/>
                <a:gridCol w="2085082"/>
                <a:gridCol w="1493639"/>
                <a:gridCol w="1752600"/>
                <a:gridCol w="2032248"/>
              </a:tblGrid>
              <a:tr h="416718">
                <a:tc>
                  <a:txBody>
                    <a:bodyPr/>
                    <a:lstStyle/>
                    <a:p>
                      <a:pPr algn="l"/>
                      <a:r>
                        <a:rPr b="1" sz="937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Drug Name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37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Adverse Event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37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Report Cases (a)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37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PRR Metric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37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Chi-Squared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37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Signal Status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16718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Atorvastatin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Myopathy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35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Inf ∞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—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Flagged Signal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6718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Clopidogrel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Thrombocytopenia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25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Inf ∞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—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Flagged Signal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</a:tr>
              <a:tr h="416718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Lisinopril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Dry Cough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22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Inf ∞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—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Flagged Signal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6718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Metformin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Lactic Acidosis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18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Inf ∞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—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Flagged Signal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</a:tr>
              <a:tr h="416718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Prednisone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Hyperglycaemia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Inf ∞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—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Flagged Signal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6723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Amoxicillin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Anaphylaxis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Inf ∞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—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Not Flagged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5090814"/>
            <a:ext cx="152400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19175" y="5071764"/>
            <a:ext cx="10458450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1" sz="975" i="0" u="none">
                <a:solidFill>
                  <a:srgbClr val="0F172A"/>
                </a:solidFill>
                <a:latin typeface="Plus Jakarta Sans"/>
              </a:rPr>
              <a:t>Human Domain Safeguard:</a:t>
            </a:r>
            <a:r>
              <a:rPr b="0" sz="975" i="0" u="none">
                <a:solidFill>
                  <a:srgbClr val="334155"/>
                </a:solidFill>
                <a:latin typeface="Plus Jakarta Sans"/>
              </a:rPr>
              <a:t> Amoxicillin exhibits an infinite PRR because Anaphylaxis appears exclusively with it in the test slice (denominator = 0). However, with only 1 recorded report, our case count guard (N ≥ 3) deliberately suppresses the alarm, preventing isolated statistical flukes from creating alert fatigue.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2925" y="2276177"/>
            <a:ext cx="16039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46845" y="2276177"/>
            <a:ext cx="21386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5505" y="2276177"/>
            <a:ext cx="20850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70587" y="2276177"/>
            <a:ext cx="14936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4226" y="2276177"/>
            <a:ext cx="1752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16826" y="2276177"/>
            <a:ext cx="20322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2925" y="2697658"/>
            <a:ext cx="160392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46845" y="2697658"/>
            <a:ext cx="213866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5505" y="2697658"/>
            <a:ext cx="2085082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70587" y="2697658"/>
            <a:ext cx="149363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4226" y="2697658"/>
            <a:ext cx="17526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16826" y="2697658"/>
            <a:ext cx="203224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2925" y="3119139"/>
            <a:ext cx="160392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46845" y="3119139"/>
            <a:ext cx="213866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85505" y="3119139"/>
            <a:ext cx="2085082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70587" y="3119139"/>
            <a:ext cx="149363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64226" y="3119139"/>
            <a:ext cx="17526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16826" y="3119139"/>
            <a:ext cx="203224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2925" y="3540621"/>
            <a:ext cx="160392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46845" y="3540621"/>
            <a:ext cx="213866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85505" y="3540621"/>
            <a:ext cx="2085082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70587" y="3540621"/>
            <a:ext cx="149363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4226" y="3540621"/>
            <a:ext cx="17526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16826" y="3540621"/>
            <a:ext cx="203224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2925" y="3962102"/>
            <a:ext cx="160392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146845" y="3962102"/>
            <a:ext cx="213866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85505" y="3962102"/>
            <a:ext cx="2085082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70587" y="3962102"/>
            <a:ext cx="149363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64226" y="3962102"/>
            <a:ext cx="17526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16826" y="3962102"/>
            <a:ext cx="203224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2925" y="4383583"/>
            <a:ext cx="160392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146845" y="4383583"/>
            <a:ext cx="213866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85505" y="4383583"/>
            <a:ext cx="2085082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70587" y="4383583"/>
            <a:ext cx="149363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864226" y="4383583"/>
            <a:ext cx="17526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616826" y="4383583"/>
            <a:ext cx="203224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8276" y="2380952"/>
            <a:ext cx="1104900" cy="221456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8276" y="2802433"/>
            <a:ext cx="1104900" cy="221456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8276" y="3223914"/>
            <a:ext cx="1104900" cy="221456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8276" y="3645396"/>
            <a:ext cx="1104900" cy="221456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88276" y="4066877"/>
            <a:ext cx="1104900" cy="221456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88276" y="4488358"/>
            <a:ext cx="904875" cy="22145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33400" y="419100"/>
            <a:ext cx="1165860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Signal Guard: Clinical Judgment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522041"/>
            <a:ext cx="3568749" cy="24080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1699" y="2522041"/>
            <a:ext cx="3568749" cy="240803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522041"/>
            <a:ext cx="3568749" cy="240803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2760166"/>
            <a:ext cx="381000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2475" y="3274516"/>
            <a:ext cx="3130599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JetBrains Mono SemiBold"/>
              </a:rPr>
              <a:t>PHASE 1: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2475" y="3465016"/>
            <a:ext cx="328712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Plan Mode Roadmapping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3760291"/>
            <a:ext cx="3130599" cy="745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0" sz="1012" i="0" u="none">
                <a:solidFill>
                  <a:srgbClr val="475569"/>
                </a:solidFill>
                <a:latin typeface="Plus Jakarta Sans"/>
              </a:rPr>
              <a:t>Decomposed the dual regulatory challenge into 8 sequenced, dependency-mapped development sub-tasks before writing code, establishing rigorous data contracts and test criteria.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0774" y="2760166"/>
            <a:ext cx="381000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30774" y="3274516"/>
            <a:ext cx="3130599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JetBrains Mono SemiBold"/>
              </a:rPr>
              <a:t>PHASE 2: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0774" y="3465016"/>
            <a:ext cx="328712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Autonomous Agent 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0774" y="3760291"/>
            <a:ext cx="3130599" cy="745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0" sz="1012" i="0" u="none">
                <a:solidFill>
                  <a:srgbClr val="475569"/>
                </a:solidFill>
                <a:latin typeface="Plus Jakarta Sans"/>
              </a:rPr>
              <a:t>Implemented the end-to-end Python application: SciPy 2x2 contingency analysis, RapidFuzz string distance algorithms, ICH YAML structures, and the responsive Streamlit user interface.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9074" y="2760166"/>
            <a:ext cx="381000" cy="381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09074" y="3274516"/>
            <a:ext cx="3130599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JetBrains Mono SemiBold"/>
              </a:rPr>
              <a:t>PHASE 3: COLLABORATION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9074" y="3465016"/>
            <a:ext cx="328712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Collaborative Inquiries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9074" y="3760291"/>
            <a:ext cx="3130599" cy="931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0" sz="1012" i="0" u="none">
                <a:solidFill>
                  <a:srgbClr val="475569"/>
                </a:solidFill>
                <a:latin typeface="Plus Jakarta Sans"/>
              </a:rPr>
              <a:t>Bob actively surfaced pivotal edge cases during build: prompting the team on handling zero-denominator infinite PRRs safely and highlighting unrecognised dossier sections rather than discarding them.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250" y="2864941"/>
            <a:ext cx="171450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26024" y="2864941"/>
            <a:ext cx="190500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90036" y="2864941"/>
            <a:ext cx="219075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33400" y="419100"/>
            <a:ext cx="1165860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Human-AI Co-Engineering with Bob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577405"/>
            <a:ext cx="4343400" cy="22973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2577405"/>
            <a:ext cx="3190875" cy="10819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725" y="2577405"/>
            <a:ext cx="3190875" cy="108198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0" y="3792735"/>
            <a:ext cx="3190875" cy="108198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7725" y="3792735"/>
            <a:ext cx="3190875" cy="10819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88467" y="3059310"/>
            <a:ext cx="1833116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b="0" sz="6600" i="0" u="none">
                <a:solidFill>
                  <a:srgbClr val="0284C7"/>
                </a:solidFill>
                <a:latin typeface="Plus Jakarta Sans ExtraBold"/>
              </a:rPr>
              <a:t>98%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9712" y="3992760"/>
            <a:ext cx="23907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Plus Jakarta Sans"/>
              </a:rPr>
              <a:t>Dossier Completeness Verified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6362" y="4240410"/>
            <a:ext cx="26574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54 of 55 mandatory ICH M4 sections matched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24475" y="2739330"/>
            <a:ext cx="28289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Plus Jakarta Sans ExtraBold"/>
              </a:rPr>
              <a:t>1 Gap Caught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24475" y="2986980"/>
            <a:ext cx="28289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284C7"/>
                </a:solidFill>
                <a:latin typeface="Plus Jakarta Sans SemiBold"/>
              </a:rPr>
              <a:t>Module 4 Carcinogenicity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4475" y="3177480"/>
            <a:ext cx="2828925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475569"/>
                </a:solidFill>
                <a:latin typeface="Plus Jakarta Sans"/>
              </a:rPr>
              <a:t>Flagged missing chronic safety data that would trigger an immediate FDA objection.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8700" y="2739330"/>
            <a:ext cx="28289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Plus Jakarta Sans ExtraBold"/>
              </a:rPr>
              <a:t>9 Signals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8700" y="2986980"/>
            <a:ext cx="28289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284C7"/>
                </a:solidFill>
                <a:latin typeface="Plus Jakarta Sans SemiBold"/>
              </a:rPr>
              <a:t>Prioritized Safety Alerts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8700" y="3177480"/>
            <a:ext cx="2828925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475569"/>
                </a:solidFill>
                <a:latin typeface="Plus Jakarta Sans"/>
              </a:rPr>
              <a:t>Identified 9 high-risk signals across 60 evaluated drug-event pairs from 200 reports.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4475" y="3954660"/>
            <a:ext cx="28289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Plus Jakarta Sans ExtraBold"/>
              </a:rPr>
              <a:t>$50M–$100M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4475" y="4202310"/>
            <a:ext cx="28289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284C7"/>
                </a:solidFill>
                <a:latin typeface="Plus Jakarta Sans SemiBold"/>
              </a:rPr>
              <a:t>Capital Loss Avoided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4475" y="4392810"/>
            <a:ext cx="2828925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475569"/>
                </a:solidFill>
                <a:latin typeface="Plus Jakarta Sans"/>
              </a:rPr>
              <a:t>Eliminates 6–12 months of review delays by preventing Refuse-to-File regulatory decisions.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8700" y="3954660"/>
            <a:ext cx="28289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Plus Jakarta Sans ExtraBold"/>
              </a:rPr>
              <a:t>0 API Calls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8700" y="4202310"/>
            <a:ext cx="28289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284C7"/>
                </a:solidFill>
                <a:latin typeface="Plus Jakarta Sans SemiBold"/>
              </a:rPr>
              <a:t>100% Deterministic &amp; Offline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8700" y="4392810"/>
            <a:ext cx="2828925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475569"/>
                </a:solidFill>
                <a:latin typeface="Plus Jakarta Sans"/>
              </a:rPr>
              <a:t>Fully reproducible calculations with zero external latency or data privacy exposure.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" y="419100"/>
            <a:ext cx="1165860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Clinical Validation and Impact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547044"/>
            <a:ext cx="2638425" cy="235803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2325" y="2547044"/>
            <a:ext cx="2638425" cy="23580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547044"/>
            <a:ext cx="2638425" cy="23580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0175" y="2547044"/>
            <a:ext cx="2638425" cy="235803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766119"/>
            <a:ext cx="361950" cy="3619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3300" y="2766119"/>
            <a:ext cx="361950" cy="3619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2225" y="2766119"/>
            <a:ext cx="361950" cy="3619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1150" y="2766119"/>
            <a:ext cx="361950" cy="3619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38387" y="2689919"/>
            <a:ext cx="690562" cy="1619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4375" y="3242369"/>
            <a:ext cx="22764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Manan Patel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375" y="3461444"/>
            <a:ext cx="22764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284C7"/>
                </a:solidFill>
                <a:latin typeface="JetBrains Mono SemiBold"/>
              </a:rPr>
              <a:t>25me073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375" y="3690044"/>
            <a:ext cx="22764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37" i="0" u="none">
                <a:solidFill>
                  <a:srgbClr val="475569"/>
                </a:solidFill>
                <a:latin typeface="Plus Jakarta Sans SemiBold"/>
              </a:rPr>
              <a:t>Lead &amp; Full Stack Architect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4375" y="3918644"/>
            <a:ext cx="227647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4375" y="4023419"/>
            <a:ext cx="2276475" cy="66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64748B"/>
                </a:solidFill>
                <a:latin typeface="Plus Jakarta Sans"/>
              </a:rPr>
              <a:t>Architected the dual-mode Streamlit system, session state management, CSV/JSON upload validation pipelines, and offline fallbacks.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3300" y="3242369"/>
            <a:ext cx="22764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Zenam Mehta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3300" y="3461444"/>
            <a:ext cx="22764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284C7"/>
                </a:solidFill>
                <a:latin typeface="JetBrains Mono SemiBold"/>
              </a:rPr>
              <a:t>24BPH029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3300" y="3690044"/>
            <a:ext cx="22764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37" i="0" u="none">
                <a:solidFill>
                  <a:srgbClr val="475569"/>
                </a:solidFill>
                <a:latin typeface="Plus Jakarta Sans SemiBold"/>
              </a:rPr>
              <a:t>Pharmacovigilance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43300" y="3918644"/>
            <a:ext cx="227647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43300" y="4023419"/>
            <a:ext cx="2276475" cy="66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64748B"/>
                </a:solidFill>
                <a:latin typeface="Plus Jakarta Sans"/>
              </a:rPr>
              <a:t>Formulated Evans 2001 disproportionality criteria, encoded ICH M4 dossier specifications, and authored clinical risk guidance.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2225" y="3242369"/>
            <a:ext cx="22764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Keval Desai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2225" y="3461444"/>
            <a:ext cx="22764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284C7"/>
                </a:solidFill>
                <a:latin typeface="JetBrains Mono SemiBold"/>
              </a:rPr>
              <a:t>25me009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2225" y="3690044"/>
            <a:ext cx="22764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37" i="0" u="none">
                <a:solidFill>
                  <a:srgbClr val="475569"/>
                </a:solidFill>
                <a:latin typeface="Plus Jakarta Sans SemiBold"/>
              </a:rPr>
              <a:t>Biostatistical Engine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72225" y="3918644"/>
            <a:ext cx="227647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4023419"/>
            <a:ext cx="2276475" cy="496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64748B"/>
                </a:solidFill>
                <a:latin typeface="Plus Jakarta Sans"/>
              </a:rPr>
              <a:t>Implemented the 2x2 contingency matrix, SciPy Pearson Chi-Squared verification, and the N ≥ 3 sample threshold guard.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1150" y="3242369"/>
            <a:ext cx="22764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Aum Pathak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1150" y="3461444"/>
            <a:ext cx="22764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284C7"/>
                </a:solidFill>
                <a:latin typeface="JetBrains Mono SemiBold"/>
              </a:rPr>
              <a:t>25dcs101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01150" y="3690044"/>
            <a:ext cx="22764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37" i="0" u="none">
                <a:solidFill>
                  <a:srgbClr val="475569"/>
                </a:solidFill>
                <a:latin typeface="Plus Jakarta Sans SemiBold"/>
              </a:rPr>
              <a:t>Fuzzy Matching &amp; Telemetry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01150" y="3918644"/>
            <a:ext cx="227647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01150" y="4023419"/>
            <a:ext cx="2276475" cy="66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64748B"/>
                </a:solidFill>
                <a:latin typeface="Plus Jakarta Sans"/>
              </a:rPr>
              <a:t>Calibrated RapidFuzz string scoring (threshold = 80), mapped regional CTD naming variances, and built unrecognised section telemetry.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400" y="419100"/>
            <a:ext cx="1165860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Bob-builder Team &amp; Roles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